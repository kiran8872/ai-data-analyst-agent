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Problem &amp; Opportunity</a:t>
            </a:r>
          </a:p>
        </p:txBody>
      </p:sp>
      <p:sp>
        <p:nvSpPr>
          <p:cNvPr id="3" name="Hexagon 2"/>
          <p:cNvSpPr/>
          <p:nvPr/>
        </p:nvSpPr>
        <p:spPr>
          <a:xfrm>
            <a:off x="5404104" y="3063240"/>
            <a:ext cx="1371600" cy="1188720"/>
          </a:xfrm>
          <a:prstGeom prst="hexagon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3B82F6"/>
                </a:solidFill>
              </a:defRPr>
            </a:pPr>
            <a:r>
              <a:t>5W1H</a:t>
            </a:r>
          </a:p>
        </p:txBody>
      </p:sp>
      <p:sp>
        <p:nvSpPr>
          <p:cNvPr id="4" name="Hexagon 3"/>
          <p:cNvSpPr/>
          <p:nvPr/>
        </p:nvSpPr>
        <p:spPr>
          <a:xfrm>
            <a:off x="5404104" y="1965960"/>
            <a:ext cx="1371600" cy="1188720"/>
          </a:xfrm>
          <a:prstGeom prst="hexag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What</a:t>
            </a:r>
          </a:p>
        </p:txBody>
      </p:sp>
      <p:sp>
        <p:nvSpPr>
          <p:cNvPr id="5" name="Hexagon 4"/>
          <p:cNvSpPr/>
          <p:nvPr/>
        </p:nvSpPr>
        <p:spPr>
          <a:xfrm>
            <a:off x="6409944" y="2514600"/>
            <a:ext cx="1371600" cy="1188720"/>
          </a:xfrm>
          <a:prstGeom prst="hexag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6" name="Hexagon 5"/>
          <p:cNvSpPr/>
          <p:nvPr/>
        </p:nvSpPr>
        <p:spPr>
          <a:xfrm>
            <a:off x="6409944" y="3611880"/>
            <a:ext cx="1371600" cy="1188720"/>
          </a:xfrm>
          <a:prstGeom prst="hexag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When</a:t>
            </a:r>
          </a:p>
        </p:txBody>
      </p:sp>
      <p:sp>
        <p:nvSpPr>
          <p:cNvPr id="7" name="Hexagon 6"/>
          <p:cNvSpPr/>
          <p:nvPr/>
        </p:nvSpPr>
        <p:spPr>
          <a:xfrm>
            <a:off x="5404104" y="4160520"/>
            <a:ext cx="1371600" cy="1188720"/>
          </a:xfrm>
          <a:prstGeom prst="hexag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How</a:t>
            </a:r>
          </a:p>
        </p:txBody>
      </p:sp>
      <p:sp>
        <p:nvSpPr>
          <p:cNvPr id="8" name="Hexagon 7"/>
          <p:cNvSpPr/>
          <p:nvPr/>
        </p:nvSpPr>
        <p:spPr>
          <a:xfrm>
            <a:off x="4398264" y="3611880"/>
            <a:ext cx="1371600" cy="1188720"/>
          </a:xfrm>
          <a:prstGeom prst="hexag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Where</a:t>
            </a:r>
          </a:p>
        </p:txBody>
      </p:sp>
      <p:sp>
        <p:nvSpPr>
          <p:cNvPr id="9" name="Hexagon 8"/>
          <p:cNvSpPr/>
          <p:nvPr/>
        </p:nvSpPr>
        <p:spPr>
          <a:xfrm>
            <a:off x="4398264" y="2514600"/>
            <a:ext cx="1371600" cy="1188720"/>
          </a:xfrm>
          <a:prstGeom prst="hexag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Who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Manual exploratory analysis is slow and fragmented, causing delayed insights and limited ability to scale analytics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Key users include business analysts, operations leads, and SME decision makers who need quick, reliable data-driven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These challenges appear across data-driven organizations facing complex, distributed datasets without massive data science teams.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64592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Because teams rely on scarce experts and manual coding, analysis is slow, error risk is higher, and decisions lack timely data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10896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Today, time-to-analysis stretches from hours to weeks; teams feel this delay during urgent incident investigations and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57200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An AI data analyst agent automates EDA, offers a self-service interface, and scales insight generation through natural language.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Capabilities at a Glance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1645920"/>
            <a:ext cx="3200400" cy="9144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Core Data &amp; Analysis</a:t>
            </a:r>
            <a:br/>
            <a:r>
              <a:t>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645920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Upload CSV/Excel files, run automated cleaning and exploratory analysis, generate charts, and transform messy raw data into structured insights.</a:t>
            </a:r>
          </a:p>
        </p:txBody>
      </p:sp>
      <p:sp>
        <p:nvSpPr>
          <p:cNvPr id="5" name="Chevron 4"/>
          <p:cNvSpPr/>
          <p:nvPr/>
        </p:nvSpPr>
        <p:spPr>
          <a:xfrm>
            <a:off x="457200" y="2834640"/>
            <a:ext cx="3200400" cy="9144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Advanced Intelligence &amp;</a:t>
            </a:r>
            <a:br/>
            <a:r>
              <a:t>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834640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Perform anomaly detection, support natural language querying, generate concise insight reports, and guide users to defensible business decisions.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" y="4023360"/>
            <a:ext cx="3200400" cy="9144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User Journey &amp; Typical</a:t>
            </a:r>
            <a:br/>
            <a:r>
              <a:t>Use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4023360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Follow a clear path from raw files through exploration to decisions, supporting business analytics and reporting scenarios across all teams.</a:t>
            </a:r>
          </a:p>
        </p:txBody>
      </p:sp>
      <p:sp>
        <p:nvSpPr>
          <p:cNvPr id="9" name="Chevron 8"/>
          <p:cNvSpPr/>
          <p:nvPr/>
        </p:nvSpPr>
        <p:spPr>
          <a:xfrm>
            <a:off x="457200" y="5212080"/>
            <a:ext cx="3200400" cy="9144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No-Code Experience &amp;</a:t>
            </a:r>
            <a:br/>
            <a:r>
              <a:t>Data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5212080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Provide a fully no-code user experience with low-friction onboarding, accepting standard tabular formats for all complexity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End-to-End User Workflow</a:t>
            </a:r>
          </a:p>
        </p:txBody>
      </p:sp>
      <p:sp>
        <p:nvSpPr>
          <p:cNvPr id="3" name="Chevron 2"/>
          <p:cNvSpPr/>
          <p:nvPr/>
        </p:nvSpPr>
        <p:spPr>
          <a:xfrm>
            <a:off x="5943600" y="3200400"/>
            <a:ext cx="301752" cy="457200"/>
          </a:xfrm>
          <a:prstGeom prst="chevr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45720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0" y="2103120"/>
            <a:ext cx="54864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Data Ingestion &amp; Preparation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Users upload CSV or Excel files. The system automatically infers schema, profiles data quality, generates summary statistics, and embeds the metadata into a ChromaDB Vector Store for robust downstream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0" y="2286000"/>
            <a:ext cx="45720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26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Analysis, Exploration &amp; Insight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The Smart Query Router triages questions. Simple queries run instantly on DuckDB. Complex queries trigger the LangChain agent for deep Python-based reasoning. Users receive fast, accurate answers and interactive Plotly charts.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End-to-End Architecture &amp; Data Flow</a:t>
            </a:r>
          </a:p>
          <a:p>
            <a:pPr>
              <a:spcBef>
                <a:spcPts val="500"/>
              </a:spcBef>
              <a:defRPr sz="1400">
                <a:solidFill>
                  <a:srgbClr val="CBD5E1"/>
                </a:solidFill>
              </a:defRPr>
            </a:pPr>
            <a:r>
              <a:t>Built on FastAPI and Next.js. Data flows from upload through automatic parsing, statistical profiling, and vector embedding into ChromaDB, separating data storage from the AI reasoning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0" y="411480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754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Core Components &amp; AI Routing</a:t>
            </a:r>
          </a:p>
          <a:p>
            <a:pPr>
              <a:spcBef>
                <a:spcPts val="500"/>
              </a:spcBef>
              <a:defRPr sz="1400">
                <a:solidFill>
                  <a:srgbClr val="CBD5E1"/>
                </a:solidFill>
              </a:defRPr>
            </a:pPr>
            <a:r>
              <a:t>Features a Hybrid Smart Query Router. Fast Track uses DuckDB for &lt;3s latency. Complex Track uses a ReAct LangChain agent with Mistral fallbacks to ensure robust code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Data Ingestion &amp; Cleaning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8288" cy="3200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228600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37744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Automated parsing and preprocessing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Parse CSV or Excel files, infer schemas and data types, analyze data bounds, and pre-compute minimums, maximums, and means for every column instantly upon upload.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57200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466344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Quality reporting and semantic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805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Generate a statistical summary and inject it alongside table schemas directly into ChromaDB. This semantic memory layer allows the LLM to understand the dataset without re-reading the entire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Smart Anomaly Detection &amp;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86868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5400000">
            <a:off x="9601200" y="3017520"/>
            <a:ext cx="1371600" cy="1417320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2286000" y="2286000"/>
            <a:ext cx="914400" cy="1371600"/>
          </a:xfrm>
          <a:prstGeom prst="parallelogram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Anomaly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Clarifies the difference between simple statistical boundaries (DuckDB IQR) and deep context-driven anomalies (LangChain).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5029200" y="2286000"/>
            <a:ext cx="914400" cy="1371600"/>
          </a:xfrm>
          <a:prstGeom prst="parallelogram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Applies IQR, Z-scores, and iterative Python scripting dynamically based on the dataset schema.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7772400" y="2286000"/>
            <a:ext cx="914400" cy="1371600"/>
          </a:xfrm>
          <a:prstGeom prst="parallelogram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Evaluates anomalies across categorical segments and time windows to highlight exactly where abnormal behavior occurs.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3200400" y="3794760"/>
            <a:ext cx="914400" cy="1371600"/>
          </a:xfrm>
          <a:prstGeom prst="parallelogram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5486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Time 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114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Generates interactive Plotly charts dynamically to visually flag unusual patterns over time while highlighting trends.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5943600" y="3794760"/>
            <a:ext cx="914400" cy="1371600"/>
          </a:xfrm>
          <a:prstGeom prst="parallelogram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5486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Causality &amp;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114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ReAct loop investigates causes by writing testing scripts. Triple-redundancy fallback guarantees successful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Natural Language Insights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4572000" cy="4572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WHAT?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2011680"/>
            <a:ext cx="3291840" cy="32918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HOW?</a:t>
            </a:r>
          </a:p>
        </p:txBody>
      </p:sp>
      <p:sp>
        <p:nvSpPr>
          <p:cNvPr id="7" name="Oval 6"/>
          <p:cNvSpPr/>
          <p:nvPr/>
        </p:nvSpPr>
        <p:spPr>
          <a:xfrm>
            <a:off x="2194560" y="2651760"/>
            <a:ext cx="2011680" cy="20116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834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WHY?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13716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Phenomenon</a:t>
            </a:r>
            <a:br/>
            <a:r>
              <a:t>/Outcome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4114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Empowers non-technical users to converse with data, dynamically generating Pandas or DuckDB SQL code replacing manual effort.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200400"/>
            <a:ext cx="13716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Method</a:t>
            </a:r>
            <a:br/>
            <a:r>
              <a:t>/Action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200400"/>
            <a:ext cx="4114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Uses a Hybrid Smart Query Router. Simple questions run instantly via SQL. Complex questions trigger multi-step reasoning.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572000"/>
            <a:ext cx="13716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Mission</a:t>
            </a:r>
            <a:br/>
            <a:r>
              <a:t>/Idea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572000"/>
            <a:ext cx="4114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Aims to make analytics universally accessible yet fast and accurate, combining schema awareness with safe-answer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Technical Challenges &amp; Solutions</a:t>
            </a:r>
          </a:p>
        </p:txBody>
      </p:sp>
      <p:sp>
        <p:nvSpPr>
          <p:cNvPr id="3" name="Oval 2"/>
          <p:cNvSpPr/>
          <p:nvPr/>
        </p:nvSpPr>
        <p:spPr>
          <a:xfrm>
            <a:off x="3200400" y="2286000"/>
            <a:ext cx="3200400" cy="3200400"/>
          </a:xfrm>
          <a:prstGeom prst="ellipse">
            <a:avLst/>
          </a:prstGeom>
          <a:noFill/>
          <a:ln w="508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Challenges</a:t>
            </a:r>
          </a:p>
        </p:txBody>
      </p:sp>
      <p:sp>
        <p:nvSpPr>
          <p:cNvPr id="5" name="Oval 4"/>
          <p:cNvSpPr/>
          <p:nvPr/>
        </p:nvSpPr>
        <p:spPr>
          <a:xfrm>
            <a:off x="5303520" y="2286000"/>
            <a:ext cx="3200400" cy="3200400"/>
          </a:xfrm>
          <a:prstGeom prst="ellipse">
            <a:avLst/>
          </a:prstGeom>
          <a:noFill/>
          <a:ln w="508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03520" y="3749039"/>
            <a:ext cx="6400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6080" y="23774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1945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CBD5E1"/>
                </a:solidFill>
              </a:defRPr>
            </a:pPr>
            <a:r>
              <a:t>High latency: Complex LangChain reasoning loops took 15 to 30+ seconds.</a:t>
            </a:r>
          </a:p>
        </p:txBody>
      </p:sp>
      <p:sp>
        <p:nvSpPr>
          <p:cNvPr id="10" name="Oval 9"/>
          <p:cNvSpPr/>
          <p:nvPr/>
        </p:nvSpPr>
        <p:spPr>
          <a:xfrm>
            <a:off x="2377440" y="3657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54864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CBD5E1"/>
                </a:solidFill>
              </a:defRPr>
            </a:pPr>
            <a:r>
              <a:t>Parsing errors: LangChain crashed when outputting dual Action/Thoughts.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49377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7548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CBD5E1"/>
                </a:solidFill>
              </a:defRPr>
            </a:pPr>
            <a:r>
              <a:t>Context limits: Large datasets caused token limits and hallucinations.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0" y="23774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21945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CBD5E1"/>
                </a:solidFill>
              </a:defRPr>
            </a:pPr>
            <a:r>
              <a:t>Hybrid Architecture: DuckDB fast track reduced simple query latency to &lt;3 seconds.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0" y="3657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CBD5E1"/>
                </a:solidFill>
              </a:defRPr>
            </a:pPr>
            <a:r>
              <a:t>Custom Extraction: Built regex-based fallback parsers to rescue final answers.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0" y="49377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47548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CBD5E1"/>
                </a:solidFill>
              </a:defRPr>
            </a:pPr>
            <a:r>
              <a:t>ChromaDB Pipeline: Pre-computes metadata on upload for lean context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